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68" r:id="rId4"/>
    <p:sldId id="269" r:id="rId5"/>
    <p:sldId id="262" r:id="rId6"/>
    <p:sldId id="263" r:id="rId7"/>
    <p:sldId id="264" r:id="rId8"/>
    <p:sldId id="270" r:id="rId9"/>
    <p:sldId id="271" r:id="rId10"/>
    <p:sldId id="273" r:id="rId11"/>
    <p:sldId id="274" r:id="rId12"/>
    <p:sldId id="275" r:id="rId13"/>
    <p:sldId id="261" r:id="rId14"/>
    <p:sldId id="272" r:id="rId15"/>
    <p:sldId id="260" r:id="rId16"/>
    <p:sldId id="27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AF2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5" autoAdjust="0"/>
    <p:restoredTop sz="95706" autoAdjust="0"/>
  </p:normalViewPr>
  <p:slideViewPr>
    <p:cSldViewPr snapToGrid="0" snapToObjects="1">
      <p:cViewPr varScale="1">
        <p:scale>
          <a:sx n="91" d="100"/>
          <a:sy n="91" d="100"/>
        </p:scale>
        <p:origin x="114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C274F-B05A-4B51-9029-0AECBC5C6226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461A2-9CC6-43D1-BEA0-11804AEDE4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455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461A2-9CC6-43D1-BEA0-11804AEDE48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889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17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12490" y="2011680"/>
            <a:ext cx="531902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Contract RAG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933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33866"/>
            <a:ext cx="9144000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-33866"/>
            <a:ext cx="5622744" cy="914400"/>
          </a:xfrm>
          <a:prstGeom prst="rect">
            <a:avLst/>
          </a:prstGeom>
          <a:solidFill>
            <a:srgbClr val="27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4604" y="119405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Проблематика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2001" y="922069"/>
            <a:ext cx="5915259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32323"/>
                </a:solidFill>
              </a:defRPr>
            </a:pPr>
            <a:r>
              <a:rPr lang="ru-RU" dirty="0"/>
              <a:t>Ручная подготовка контрактов имеет </a:t>
            </a:r>
          </a:p>
          <a:p>
            <a:pPr algn="ctr">
              <a:defRPr sz="2000" b="1">
                <a:solidFill>
                  <a:srgbClr val="232323"/>
                </a:solidFill>
              </a:defRPr>
            </a:pPr>
            <a:r>
              <a:rPr lang="ru-RU" dirty="0"/>
              <a:t>следующие недостатки:</a:t>
            </a:r>
          </a:p>
          <a:p>
            <a:pPr>
              <a:defRPr sz="2000" b="1">
                <a:solidFill>
                  <a:srgbClr val="232323"/>
                </a:solidFill>
              </a:defRPr>
            </a:pPr>
            <a:r>
              <a:rPr dirty="0"/>
              <a:t>⏳  </a:t>
            </a:r>
            <a:r>
              <a:rPr lang="ru-RU" dirty="0"/>
              <a:t>Большие трудозатраты</a:t>
            </a:r>
            <a:endParaRPr dirty="0"/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Контракт, объем ≈ </a:t>
            </a:r>
            <a:r>
              <a:rPr dirty="0"/>
              <a:t>30</a:t>
            </a:r>
            <a:r>
              <a:rPr lang="ru-RU" dirty="0"/>
              <a:t>-</a:t>
            </a:r>
            <a:r>
              <a:rPr dirty="0"/>
              <a:t>50 страниц</a:t>
            </a:r>
            <a:r>
              <a:rPr lang="ru-RU" dirty="0"/>
              <a:t>, требует время на: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• создание / компиляция контракта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• согласование в смежных подразделениях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• перевод на английский язык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endParaRPr dirty="0"/>
          </a:p>
          <a:p>
            <a:pPr>
              <a:defRPr sz="2000" b="1">
                <a:solidFill>
                  <a:srgbClr val="232323"/>
                </a:solidFill>
              </a:defRPr>
            </a:pPr>
            <a:r>
              <a:rPr dirty="0"/>
              <a:t>⚠  Ошибки</a:t>
            </a:r>
            <a:r>
              <a:rPr lang="ru-RU" dirty="0"/>
              <a:t> и риски</a:t>
            </a:r>
            <a:endParaRPr dirty="0"/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</a:t>
            </a:r>
            <a:r>
              <a:rPr lang="ru-RU" dirty="0"/>
              <a:t> </a:t>
            </a:r>
            <a:r>
              <a:rPr dirty="0"/>
              <a:t> рассогласовани</a:t>
            </a:r>
            <a:r>
              <a:rPr lang="ru-RU" dirty="0"/>
              <a:t>е</a:t>
            </a:r>
            <a:r>
              <a:rPr dirty="0"/>
              <a:t> </a:t>
            </a:r>
            <a:r>
              <a:rPr lang="ru-RU" dirty="0"/>
              <a:t>условий и формулировок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•  неоднородность структуры и стиля</a:t>
            </a:r>
            <a:endParaRPr dirty="0"/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</a:t>
            </a:r>
            <a:r>
              <a:rPr lang="ru-RU" dirty="0"/>
              <a:t> </a:t>
            </a:r>
            <a:r>
              <a:rPr dirty="0"/>
              <a:t>юридические и финансовые </a:t>
            </a:r>
            <a:r>
              <a:rPr lang="ru-RU" dirty="0"/>
              <a:t>риски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•  пропуск реквизитов</a:t>
            </a:r>
            <a:endParaRPr dirty="0"/>
          </a:p>
          <a:p>
            <a:pPr>
              <a:defRPr sz="1800" b="0">
                <a:solidFill>
                  <a:srgbClr val="232323"/>
                </a:solidFill>
              </a:defRPr>
            </a:pPr>
            <a:endParaRPr dirty="0"/>
          </a:p>
          <a:p>
            <a:pPr>
              <a:defRPr sz="2000" b="1">
                <a:solidFill>
                  <a:srgbClr val="232323"/>
                </a:solidFill>
              </a:defRPr>
            </a:pPr>
            <a:r>
              <a:rPr dirty="0"/>
              <a:t>🔒 </a:t>
            </a:r>
            <a:r>
              <a:rPr lang="ru-RU" dirty="0"/>
              <a:t> Ограничения безопасности</a:t>
            </a:r>
            <a:endParaRPr dirty="0"/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• невозможность использования облачных сервисов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конфиденциальн</a:t>
            </a:r>
            <a:r>
              <a:rPr lang="ru-RU" dirty="0"/>
              <a:t>ость</a:t>
            </a:r>
            <a:r>
              <a:rPr dirty="0"/>
              <a:t> информаци</a:t>
            </a:r>
            <a:r>
              <a:rPr lang="ru-RU" dirty="0"/>
              <a:t>и/коммерческая тайна</a:t>
            </a:r>
            <a:endParaRPr dirty="0"/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политика безопасности</a:t>
            </a:r>
            <a:r>
              <a:rPr lang="ru-RU" dirty="0"/>
              <a:t> компании</a:t>
            </a:r>
          </a:p>
        </p:txBody>
      </p:sp>
      <p:pic>
        <p:nvPicPr>
          <p:cNvPr id="7" name="Picture 6" descr="lawyer_illustration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744" y="-33866"/>
            <a:ext cx="3473664" cy="321824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35040"/>
            <a:ext cx="9144000" cy="822960"/>
          </a:xfrm>
          <a:prstGeom prst="rect">
            <a:avLst/>
          </a:prstGeom>
          <a:solidFill>
            <a:srgbClr val="F58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810" y="6030709"/>
            <a:ext cx="85101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lang="ru-RU" dirty="0"/>
              <a:t>Вывод</a:t>
            </a:r>
            <a:r>
              <a:rPr dirty="0"/>
              <a:t>: подготовка контракт</a:t>
            </a:r>
            <a:r>
              <a:rPr lang="ru-RU" dirty="0"/>
              <a:t>ных документов является 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lang="ru-RU" dirty="0"/>
              <a:t>ресурсоёмким процессом и требует</a:t>
            </a:r>
            <a:r>
              <a:rPr dirty="0"/>
              <a:t> автомати</a:t>
            </a:r>
            <a:r>
              <a:rPr lang="ru-RU" dirty="0"/>
              <a:t>зации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1" y="0"/>
            <a:ext cx="5638801" cy="914400"/>
          </a:xfrm>
          <a:prstGeom prst="rect">
            <a:avLst/>
          </a:prstGeom>
          <a:solidFill>
            <a:srgbClr val="27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92107" y="50304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Цель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" y="943875"/>
            <a:ext cx="6386685" cy="51706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323"/>
                </a:solidFill>
              </a:defRPr>
            </a:pPr>
            <a:r>
              <a:rPr dirty="0"/>
              <a:t>🎯 Основная цель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Разработ</a:t>
            </a:r>
            <a:r>
              <a:rPr lang="ru-RU" dirty="0"/>
              <a:t>ка</a:t>
            </a:r>
            <a:r>
              <a:rPr dirty="0"/>
              <a:t> систем</a:t>
            </a:r>
            <a:r>
              <a:rPr lang="ru-RU" dirty="0"/>
              <a:t>ы</a:t>
            </a:r>
            <a:r>
              <a:rPr dirty="0"/>
              <a:t> </a:t>
            </a:r>
            <a:r>
              <a:rPr lang="ru-RU" dirty="0"/>
              <a:t>создания</a:t>
            </a:r>
            <a:r>
              <a:rPr dirty="0"/>
              <a:t> </a:t>
            </a:r>
            <a:r>
              <a:rPr lang="ru-RU" dirty="0"/>
              <a:t>автоматизированной 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подготовки договоров на основе локальной большой 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языковой модели и корпуса реальных контрактов.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endParaRPr dirty="0"/>
          </a:p>
          <a:p>
            <a:pPr>
              <a:defRPr sz="2000" b="1">
                <a:solidFill>
                  <a:srgbClr val="232323"/>
                </a:solidFill>
              </a:defRPr>
            </a:pPr>
            <a:r>
              <a:rPr dirty="0"/>
              <a:t>⚙ Задачи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автомати</a:t>
            </a:r>
            <a:r>
              <a:rPr lang="ru-RU" dirty="0"/>
              <a:t>зация</a:t>
            </a:r>
            <a:r>
              <a:rPr dirty="0"/>
              <a:t> сегментаци</a:t>
            </a:r>
            <a:r>
              <a:rPr lang="ru-RU" dirty="0"/>
              <a:t>и</a:t>
            </a:r>
            <a:r>
              <a:rPr dirty="0"/>
              <a:t> и структурировани</a:t>
            </a:r>
            <a:r>
              <a:rPr lang="ru-RU" dirty="0"/>
              <a:t>я</a:t>
            </a:r>
            <a:r>
              <a:rPr dirty="0"/>
              <a:t> </a:t>
            </a:r>
            <a:r>
              <a:rPr lang="ru-RU" dirty="0"/>
              <a:t>контрактов</a:t>
            </a:r>
            <a:endParaRPr dirty="0"/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поиск релевантных </a:t>
            </a:r>
            <a:r>
              <a:rPr lang="ru-RU" dirty="0"/>
              <a:t>типовых разделов и положений</a:t>
            </a:r>
            <a:r>
              <a:rPr dirty="0"/>
              <a:t> 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генерация </a:t>
            </a:r>
            <a:r>
              <a:rPr lang="ru-RU" dirty="0"/>
              <a:t>разделов контракта по заданным параметрам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• валидация и формирование итогового документа</a:t>
            </a:r>
            <a:endParaRPr dirty="0"/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</a:t>
            </a:r>
            <a:r>
              <a:rPr lang="ru-RU" dirty="0"/>
              <a:t>поддержка </a:t>
            </a:r>
            <a:r>
              <a:rPr dirty="0"/>
              <a:t>двуязычн</a:t>
            </a:r>
            <a:r>
              <a:rPr lang="ru-RU" dirty="0"/>
              <a:t>ого</a:t>
            </a:r>
            <a:r>
              <a:rPr dirty="0"/>
              <a:t> </a:t>
            </a:r>
            <a:r>
              <a:rPr lang="ru-RU" dirty="0"/>
              <a:t>формата </a:t>
            </a:r>
            <a:r>
              <a:rPr dirty="0"/>
              <a:t>вывод</a:t>
            </a:r>
            <a:r>
              <a:rPr lang="ru-RU" dirty="0"/>
              <a:t>а</a:t>
            </a:r>
            <a:r>
              <a:rPr dirty="0"/>
              <a:t> RU / EN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</a:t>
            </a:r>
            <a:r>
              <a:rPr lang="ru-RU" dirty="0"/>
              <a:t>автономность работы без использования облачных сервисов</a:t>
            </a:r>
            <a:endParaRPr dirty="0"/>
          </a:p>
          <a:p>
            <a:pPr>
              <a:defRPr sz="1800" b="0">
                <a:solidFill>
                  <a:srgbClr val="232323"/>
                </a:solidFill>
              </a:defRPr>
            </a:pPr>
            <a:endParaRPr dirty="0"/>
          </a:p>
          <a:p>
            <a:pPr>
              <a:defRPr sz="2000" b="1">
                <a:solidFill>
                  <a:srgbClr val="232323"/>
                </a:solidFill>
              </a:defRPr>
            </a:pPr>
            <a:r>
              <a:rPr dirty="0"/>
              <a:t>📈 Ожидаемый эффект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сокращение времени подготовки: часы → минуты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снижение количества ошибок и правок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dirty="0"/>
              <a:t>• единый стиль и структура </a:t>
            </a:r>
            <a:r>
              <a:rPr lang="ru-RU" dirty="0"/>
              <a:t>контрактов</a:t>
            </a:r>
          </a:p>
          <a:p>
            <a:pPr>
              <a:defRPr sz="1800" b="0">
                <a:solidFill>
                  <a:srgbClr val="232323"/>
                </a:solidFill>
              </a:defRPr>
            </a:pPr>
            <a:r>
              <a:rPr lang="ru-RU" dirty="0"/>
              <a:t>• повышение эффективности работы сотрудников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0" y="6035040"/>
            <a:ext cx="9144000" cy="822960"/>
          </a:xfrm>
          <a:prstGeom prst="rect">
            <a:avLst/>
          </a:prstGeom>
          <a:solidFill>
            <a:srgbClr val="F58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0934" y="6049506"/>
            <a:ext cx="660854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Результат: </a:t>
            </a:r>
            <a:r>
              <a:rPr lang="ru-RU" dirty="0"/>
              <a:t>создание</a:t>
            </a:r>
            <a:r>
              <a:rPr dirty="0"/>
              <a:t> автономн</a:t>
            </a:r>
            <a:r>
              <a:rPr lang="ru-RU" dirty="0"/>
              <a:t>ого</a:t>
            </a:r>
            <a:r>
              <a:rPr dirty="0"/>
              <a:t> Contract RAG Generator </a:t>
            </a:r>
            <a:endParaRPr lang="ru-RU" dirty="0"/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lang="ru-RU" dirty="0"/>
              <a:t>в замкнутом корпоративном контуре</a:t>
            </a:r>
            <a:endParaRPr dirty="0"/>
          </a:p>
        </p:txBody>
      </p:sp>
      <p:pic>
        <p:nvPicPr>
          <p:cNvPr id="17" name="Рисунок 16" descr="Изображение выглядит как компьютер, офисные принадлежности, в помещении, ноутбу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D386348-FE75-35B2-7117-175C0BD22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1" y="0"/>
            <a:ext cx="3505199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386" y="105597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00937" cy="1028700"/>
          </a:xfrm>
          <a:prstGeom prst="rect">
            <a:avLst/>
          </a:prstGeom>
          <a:solidFill>
            <a:srgbClr val="27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320" y="-102116"/>
            <a:ext cx="468429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Архитектура системы </a:t>
            </a:r>
            <a:endParaRPr lang="en-US" dirty="0"/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генерации </a:t>
            </a:r>
            <a:r>
              <a:rPr lang="ru-RU" dirty="0"/>
              <a:t>контрактов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23480" y="2100643"/>
            <a:ext cx="1165861" cy="1508760"/>
          </a:xfrm>
          <a:prstGeom prst="roundRect">
            <a:avLst/>
          </a:prstGeom>
          <a:solidFill>
            <a:srgbClr val="F2F4F8"/>
          </a:solidFill>
          <a:ln>
            <a:solidFill>
              <a:srgbClr val="27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rPr dirty="0"/>
              <a:t>📄 </a:t>
            </a:r>
            <a:r>
              <a:rPr sz="1600" dirty="0" err="1">
                <a:solidFill>
                  <a:schemeClr val="tx1"/>
                </a:solidFill>
              </a:rPr>
              <a:t>Корпус</a:t>
            </a:r>
            <a:endParaRPr sz="1600" dirty="0">
              <a:solidFill>
                <a:schemeClr val="tx1"/>
              </a:solidFill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</a:rPr>
              <a:t>.docx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289341" y="2627907"/>
            <a:ext cx="246888" cy="452628"/>
          </a:xfrm>
          <a:prstGeom prst="rightArrow">
            <a:avLst/>
          </a:prstGeom>
          <a:solidFill>
            <a:srgbClr val="27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59562" y="2084679"/>
            <a:ext cx="1396152" cy="1508760"/>
          </a:xfrm>
          <a:prstGeom prst="roundRect">
            <a:avLst/>
          </a:prstGeom>
          <a:solidFill>
            <a:srgbClr val="F2F4F8"/>
          </a:solidFill>
          <a:ln>
            <a:solidFill>
              <a:srgbClr val="27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rPr dirty="0"/>
              <a:t>✂️ </a:t>
            </a:r>
            <a:r>
              <a:rPr sz="1500" dirty="0">
                <a:solidFill>
                  <a:schemeClr val="tx1"/>
                </a:solidFill>
              </a:rPr>
              <a:t>Сегментация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</a:rPr>
              <a:t>Разметка </a:t>
            </a:r>
            <a:r>
              <a:rPr sz="1600" dirty="0">
                <a:solidFill>
                  <a:schemeClr val="tx1"/>
                </a:solidFill>
              </a:rPr>
              <a:t>разделов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55714" y="2628709"/>
            <a:ext cx="246888" cy="452628"/>
          </a:xfrm>
          <a:prstGeom prst="rightArrow">
            <a:avLst/>
          </a:prstGeom>
          <a:solidFill>
            <a:srgbClr val="27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2459" y="2114423"/>
            <a:ext cx="1485139" cy="1508760"/>
          </a:xfrm>
          <a:prstGeom prst="roundRect">
            <a:avLst/>
          </a:prstGeom>
          <a:solidFill>
            <a:srgbClr val="F2F4F8"/>
          </a:solidFill>
          <a:ln>
            <a:solidFill>
              <a:srgbClr val="27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rPr dirty="0">
                <a:solidFill>
                  <a:schemeClr val="tx1"/>
                </a:solidFill>
              </a:rPr>
              <a:t>🔎</a:t>
            </a:r>
            <a:endParaRPr lang="en-US" dirty="0">
              <a:solidFill>
                <a:schemeClr val="tx1"/>
              </a:solidFill>
            </a:endParaRPr>
          </a:p>
          <a:p>
            <a:pPr algn="ctr">
              <a:defRPr sz="1500"/>
            </a:pPr>
            <a:r>
              <a:rPr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RETRIEVAL</a:t>
            </a:r>
          </a:p>
          <a:p>
            <a:pPr algn="ctr">
              <a:defRPr sz="1500"/>
            </a:pPr>
            <a:r>
              <a:rPr sz="1600" dirty="0">
                <a:solidFill>
                  <a:schemeClr val="tx1"/>
                </a:solidFill>
              </a:rPr>
              <a:t>BM25</a:t>
            </a:r>
            <a:endParaRPr lang="ru-RU" sz="1600" dirty="0">
              <a:solidFill>
                <a:schemeClr val="tx1"/>
              </a:solidFill>
            </a:endParaRPr>
          </a:p>
          <a:p>
            <a:pPr algn="ctr">
              <a:defRPr sz="1500"/>
            </a:pPr>
            <a:r>
              <a:rPr lang="en-US" sz="1600" dirty="0">
                <a:solidFill>
                  <a:schemeClr val="tx1"/>
                </a:solidFill>
              </a:rPr>
              <a:t>Embedding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695081" y="2642489"/>
            <a:ext cx="246888" cy="452628"/>
          </a:xfrm>
          <a:prstGeom prst="rightArrow">
            <a:avLst>
              <a:gd name="adj1" fmla="val 50000"/>
              <a:gd name="adj2" fmla="val 36282"/>
            </a:avLst>
          </a:prstGeom>
          <a:solidFill>
            <a:srgbClr val="27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34342" y="2116470"/>
            <a:ext cx="1325078" cy="1508760"/>
          </a:xfrm>
          <a:prstGeom prst="roundRect">
            <a:avLst/>
          </a:prstGeom>
          <a:solidFill>
            <a:srgbClr val="F2F4F8"/>
          </a:solidFill>
          <a:ln>
            <a:solidFill>
              <a:srgbClr val="27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rPr lang="ru-RU" dirty="0"/>
              <a:t> </a:t>
            </a:r>
            <a:r>
              <a:rPr lang="en-US" dirty="0"/>
              <a:t>       </a:t>
            </a:r>
            <a:r>
              <a:rPr lang="it-IT" dirty="0">
                <a:solidFill>
                  <a:schemeClr val="tx1"/>
                </a:solidFill>
              </a:rPr>
              <a:t>LLM</a:t>
            </a:r>
            <a:endParaRPr lang="ru-RU" dirty="0">
              <a:solidFill>
                <a:schemeClr val="tx1"/>
              </a:solidFill>
            </a:endParaRPr>
          </a:p>
          <a:p>
            <a:pPr algn="ctr">
              <a:defRPr sz="1500"/>
            </a:pPr>
            <a:r>
              <a:rPr lang="it-IT" sz="1600" dirty="0">
                <a:solidFill>
                  <a:schemeClr val="tx1"/>
                </a:solidFill>
              </a:rPr>
              <a:t>Form‑based </a:t>
            </a:r>
            <a:r>
              <a:rPr lang="ru-RU" sz="1600" dirty="0">
                <a:solidFill>
                  <a:schemeClr val="tx1"/>
                </a:solidFill>
              </a:rPr>
              <a:t>генерация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70469" y="2646068"/>
            <a:ext cx="246888" cy="452628"/>
          </a:xfrm>
          <a:prstGeom prst="rightArrow">
            <a:avLst/>
          </a:prstGeom>
          <a:solidFill>
            <a:srgbClr val="27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13791" y="2133449"/>
            <a:ext cx="1186266" cy="1508760"/>
          </a:xfrm>
          <a:prstGeom prst="roundRect">
            <a:avLst/>
          </a:prstGeom>
          <a:solidFill>
            <a:srgbClr val="F2F4F8"/>
          </a:solidFill>
          <a:ln>
            <a:solidFill>
              <a:srgbClr val="27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В</a:t>
            </a:r>
            <a:r>
              <a:rPr sz="1600" dirty="0">
                <a:solidFill>
                  <a:schemeClr val="tx1"/>
                </a:solidFill>
              </a:rPr>
              <a:t>алидация 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20118" y="2601187"/>
            <a:ext cx="266951" cy="452628"/>
          </a:xfrm>
          <a:prstGeom prst="rightArrow">
            <a:avLst/>
          </a:prstGeom>
          <a:solidFill>
            <a:srgbClr val="27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87070" y="2133449"/>
            <a:ext cx="1083734" cy="1508760"/>
          </a:xfrm>
          <a:prstGeom prst="roundRect">
            <a:avLst/>
          </a:prstGeom>
          <a:solidFill>
            <a:srgbClr val="F2F4F8"/>
          </a:solidFill>
          <a:ln>
            <a:solidFill>
              <a:srgbClr val="27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rPr dirty="0"/>
              <a:t>📑 </a:t>
            </a:r>
            <a:r>
              <a:rPr dirty="0">
                <a:solidFill>
                  <a:schemeClr val="tx1"/>
                </a:solidFill>
              </a:rPr>
              <a:t>Результат</a:t>
            </a:r>
          </a:p>
          <a:p>
            <a:pPr algn="ctr"/>
            <a:r>
              <a:rPr sz="1600" dirty="0">
                <a:solidFill>
                  <a:schemeClr val="tx1"/>
                </a:solidFill>
              </a:rPr>
              <a:t>RU/EN .docx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80" y="3942748"/>
            <a:ext cx="6575774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lang="ru-RU" dirty="0"/>
              <a:t>Этапы обработки</a:t>
            </a:r>
            <a:r>
              <a:rPr dirty="0"/>
              <a:t>:</a:t>
            </a:r>
            <a:endParaRPr lang="en-US" dirty="0"/>
          </a:p>
          <a:p>
            <a:pPr>
              <a:defRPr sz="1800"/>
            </a:pPr>
            <a:r>
              <a:rPr lang="ru-RU" dirty="0"/>
              <a:t>1. Подготовка корпуса – 100 контрактов .</a:t>
            </a:r>
            <a:r>
              <a:rPr lang="en-US" dirty="0"/>
              <a:t>docx</a:t>
            </a:r>
            <a:r>
              <a:rPr dirty="0"/>
              <a:t> </a:t>
            </a:r>
            <a:endParaRPr lang="ru-RU" dirty="0"/>
          </a:p>
          <a:p>
            <a:pPr>
              <a:defRPr sz="1800"/>
            </a:pPr>
            <a:r>
              <a:rPr lang="ru-RU" dirty="0"/>
              <a:t>2. Сегментация и структурирование разделов </a:t>
            </a:r>
          </a:p>
          <a:p>
            <a:pPr>
              <a:defRPr sz="1800"/>
            </a:pPr>
            <a:r>
              <a:rPr lang="ru-RU" dirty="0"/>
              <a:t>3. Отбор релевантных фрагментов из корпуса (</a:t>
            </a:r>
            <a:r>
              <a:rPr lang="en-US" dirty="0"/>
              <a:t>BM25</a:t>
            </a:r>
            <a:r>
              <a:rPr lang="ru-RU" dirty="0"/>
              <a:t>, </a:t>
            </a:r>
            <a:r>
              <a:rPr lang="en-US" dirty="0"/>
              <a:t>Embedding</a:t>
            </a:r>
            <a:r>
              <a:rPr lang="ru-RU" dirty="0"/>
              <a:t>)</a:t>
            </a:r>
          </a:p>
          <a:p>
            <a:pPr>
              <a:defRPr sz="1800"/>
            </a:pPr>
            <a:r>
              <a:rPr lang="ru-RU" dirty="0"/>
              <a:t>4. Генерация переменных разделов (локальная </a:t>
            </a:r>
            <a:r>
              <a:rPr lang="en-US" dirty="0"/>
              <a:t>LLM)</a:t>
            </a:r>
          </a:p>
          <a:p>
            <a:pPr>
              <a:defRPr sz="1800"/>
            </a:pPr>
            <a:r>
              <a:rPr lang="en-US" dirty="0"/>
              <a:t>5. </a:t>
            </a:r>
            <a:r>
              <a:rPr lang="ru-RU" dirty="0"/>
              <a:t>Контроль качества</a:t>
            </a:r>
            <a:r>
              <a:rPr lang="en-US" dirty="0"/>
              <a:t> (</a:t>
            </a:r>
            <a:r>
              <a:rPr lang="ru-RU" dirty="0"/>
              <a:t>проверка структуры и полноты документа</a:t>
            </a:r>
            <a:r>
              <a:rPr lang="en-US" dirty="0"/>
              <a:t>)</a:t>
            </a:r>
          </a:p>
          <a:p>
            <a:pPr>
              <a:defRPr sz="1800"/>
            </a:pPr>
            <a:r>
              <a:rPr lang="en-US" dirty="0"/>
              <a:t>6. </a:t>
            </a:r>
            <a:r>
              <a:rPr lang="ru-RU" dirty="0"/>
              <a:t>Формирование итогового документа</a:t>
            </a:r>
            <a:endParaRPr lang="en-US" dirty="0"/>
          </a:p>
          <a:p>
            <a:pPr algn="ctr">
              <a:defRPr sz="1800"/>
            </a:pPr>
            <a:endParaRPr lang="en-US" dirty="0"/>
          </a:p>
          <a:p>
            <a:pPr algn="ctr">
              <a:defRPr sz="1800"/>
            </a:pP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0" y="6175902"/>
            <a:ext cx="9144000" cy="682097"/>
          </a:xfrm>
          <a:prstGeom prst="rect">
            <a:avLst/>
          </a:prstGeom>
          <a:solidFill>
            <a:srgbClr val="F58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95117" y="6332512"/>
            <a:ext cx="67537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Pipeline: </a:t>
            </a:r>
            <a:r>
              <a:rPr lang="ru-RU" dirty="0"/>
              <a:t>Данные </a:t>
            </a:r>
            <a:r>
              <a:rPr dirty="0"/>
              <a:t>→ </a:t>
            </a:r>
            <a:r>
              <a:rPr lang="ru-RU" dirty="0"/>
              <a:t>Поиск </a:t>
            </a:r>
            <a:r>
              <a:rPr dirty="0"/>
              <a:t>→ </a:t>
            </a:r>
            <a:r>
              <a:rPr lang="ru-RU" dirty="0"/>
              <a:t>Генерация </a:t>
            </a:r>
            <a:r>
              <a:rPr dirty="0"/>
              <a:t>→ </a:t>
            </a:r>
            <a:r>
              <a:rPr lang="ru-RU" dirty="0"/>
              <a:t>Проверка </a:t>
            </a:r>
            <a:r>
              <a:rPr dirty="0"/>
              <a:t>→ </a:t>
            </a:r>
            <a:r>
              <a:rPr lang="ru-RU" dirty="0"/>
              <a:t>Результат</a:t>
            </a:r>
            <a:endParaRPr dirty="0"/>
          </a:p>
        </p:txBody>
      </p:sp>
      <p:pic>
        <p:nvPicPr>
          <p:cNvPr id="20" name="Рисунок 19" descr="Исследование со сплошной заливкой">
            <a:extLst>
              <a:ext uri="{FF2B5EF4-FFF2-40B4-BE49-F238E27FC236}">
                <a16:creationId xmlns:a16="http://schemas.microsoft.com/office/drawing/2014/main" id="{192EDB03-9503-066D-63CA-5643A5E68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6057" y="2440320"/>
            <a:ext cx="321733" cy="321733"/>
          </a:xfrm>
          <a:prstGeom prst="rect">
            <a:avLst/>
          </a:prstGeom>
        </p:spPr>
      </p:pic>
      <p:pic>
        <p:nvPicPr>
          <p:cNvPr id="24" name="Рисунок 23" descr="Сборник схем со сплошной заливкой">
            <a:extLst>
              <a:ext uri="{FF2B5EF4-FFF2-40B4-BE49-F238E27FC236}">
                <a16:creationId xmlns:a16="http://schemas.microsoft.com/office/drawing/2014/main" id="{B9402EBD-9EA9-7F59-6830-9CD3C6575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1470" y="2388149"/>
            <a:ext cx="389467" cy="389467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снимок экрана, схема, воздуш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82AC441-103A-B7F2-F244-16B35CAC54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937" y="-18041"/>
            <a:ext cx="3553842" cy="20757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Сегментация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DOCX → секции</a:t>
            </a:r>
          </a:p>
          <a:p>
            <a:r>
              <a:t>Heading detection</a:t>
            </a:r>
          </a:p>
          <a:p>
            <a:r>
              <a:t>Разделение RU/EN</a:t>
            </a:r>
          </a:p>
          <a:p>
            <a:r>
              <a:t>Формирование JSONL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Рисунок 5" descr="Изображение выглядит как текст, снимок экрана, диаграмма, График">
            <a:extLst>
              <a:ext uri="{FF2B5EF4-FFF2-40B4-BE49-F238E27FC236}">
                <a16:creationId xmlns:a16="http://schemas.microsoft.com/office/drawing/2014/main" id="{9BDFE5AF-5F9B-87AA-AD2A-97D90AF6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058"/>
            <a:ext cx="9144000" cy="6039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BM25 Retrieval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Поиск top‑k похожих клаузул</a:t>
            </a:r>
          </a:p>
          <a:p>
            <a:r>
              <a:t>Cleaner + Prompt</a:t>
            </a:r>
          </a:p>
          <a:p>
            <a:r>
              <a:t>LLM переписывает прецеденты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Рисунок 6" descr="Изображение выглядит как текст, снимок экрана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5DD6AB5-044C-7817-35D2-E69AF4668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082"/>
            <a:ext cx="9144000" cy="60418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Form‑based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Form → шаблон</a:t>
            </a:r>
          </a:p>
          <a:p>
            <a:r>
              <a:t>Контроль структуры и чисел</a:t>
            </a:r>
          </a:p>
          <a:p>
            <a:r>
              <a:t>Подходит для стандартных разделов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Рисунок 5" descr="Изображение выглядит как текст, снимок экрана, диаграмма, линия">
            <a:extLst>
              <a:ext uri="{FF2B5EF4-FFF2-40B4-BE49-F238E27FC236}">
                <a16:creationId xmlns:a16="http://schemas.microsoft.com/office/drawing/2014/main" id="{E9864564-F9EA-E000-E464-7AE3195E0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774"/>
            <a:ext cx="9144000" cy="56650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6">
            <a:extLst>
              <a:ext uri="{FF2B5EF4-FFF2-40B4-BE49-F238E27FC236}">
                <a16:creationId xmlns:a16="http://schemas.microsoft.com/office/drawing/2014/main" id="{3C533FCB-AD87-EA25-6BE3-43283C987495}"/>
              </a:ext>
            </a:extLst>
          </p:cNvPr>
          <p:cNvSpPr/>
          <p:nvPr/>
        </p:nvSpPr>
        <p:spPr>
          <a:xfrm>
            <a:off x="0" y="6175902"/>
            <a:ext cx="9144000" cy="682097"/>
          </a:xfrm>
          <a:prstGeom prst="rect">
            <a:avLst/>
          </a:prstGeom>
          <a:solidFill>
            <a:srgbClr val="F58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00BFE617-0BD6-43E0-F566-E91DF5F3634D}"/>
              </a:ext>
            </a:extLst>
          </p:cNvPr>
          <p:cNvSpPr/>
          <p:nvPr/>
        </p:nvSpPr>
        <p:spPr>
          <a:xfrm>
            <a:off x="1" y="-1"/>
            <a:ext cx="4935794" cy="1391157"/>
          </a:xfrm>
          <a:prstGeom prst="rect">
            <a:avLst/>
          </a:prstGeom>
          <a:solidFill>
            <a:srgbClr val="27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499" y="59171"/>
            <a:ext cx="84193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1919"/>
                </a:solidFill>
                <a:latin typeface="Calibri"/>
              </a:defRPr>
            </a:pPr>
            <a:r>
              <a:rPr sz="2800" dirty="0">
                <a:solidFill>
                  <a:schemeClr val="bg1"/>
                </a:solidFill>
              </a:rPr>
              <a:t>Сравнение Retrieval‑подходов: </a:t>
            </a:r>
            <a:r>
              <a:rPr lang="en-US" sz="2800" dirty="0">
                <a:solidFill>
                  <a:schemeClr val="bg1"/>
                </a:solidFill>
              </a:rPr>
              <a:t>   </a:t>
            </a:r>
            <a:r>
              <a:rPr sz="2800" dirty="0"/>
              <a:t>BM25 vs Embeddings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99" y="582391"/>
            <a:ext cx="4543213" cy="4648200"/>
          </a:xfrm>
          <a:prstGeom prst="roundRect">
            <a:avLst/>
          </a:prstGeom>
          <a:solidFill>
            <a:srgbClr val="E1F0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99432" y="580130"/>
            <a:ext cx="4489704" cy="4554219"/>
          </a:xfrm>
          <a:prstGeom prst="roundRect">
            <a:avLst/>
          </a:prstGeom>
          <a:solidFill>
            <a:srgbClr val="E1FFE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53713" y="1273720"/>
            <a:ext cx="45719" cy="4944199"/>
          </a:xfrm>
          <a:prstGeom prst="rect">
            <a:avLst/>
          </a:prstGeom>
          <a:solidFill>
            <a:srgbClr val="AAAA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9466" y="688513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rPr dirty="0"/>
              <a:t>🔍 BM2</a:t>
            </a:r>
            <a:r>
              <a:rPr lang="ru-RU" dirty="0"/>
              <a:t>5</a:t>
            </a:r>
            <a:r>
              <a:rPr dirty="0"/>
              <a:t> — лексический поиск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4626" y="664278"/>
            <a:ext cx="43130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latin typeface="Calibri"/>
              </a:defRPr>
            </a:pPr>
            <a:r>
              <a:rPr lang="ru-RU" dirty="0"/>
              <a:t>🧠 </a:t>
            </a:r>
            <a:r>
              <a:rPr lang="it-IT" sz="1700" dirty="0"/>
              <a:t>Embeddings — </a:t>
            </a:r>
            <a:r>
              <a:rPr lang="ru-RU" sz="1700" dirty="0"/>
              <a:t>семантический поиск</a:t>
            </a:r>
            <a:endParaRPr sz="1700" dirty="0"/>
          </a:p>
        </p:txBody>
      </p:sp>
      <p:sp>
        <p:nvSpPr>
          <p:cNvPr id="8" name="Rounded Rectangle 7"/>
          <p:cNvSpPr/>
          <p:nvPr/>
        </p:nvSpPr>
        <p:spPr>
          <a:xfrm>
            <a:off x="26078" y="1164476"/>
            <a:ext cx="914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ru-RU" sz="1400" dirty="0"/>
              <a:t>Текст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1213341" y="1183776"/>
            <a:ext cx="914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lang="ru-RU" dirty="0"/>
              <a:t>   </a:t>
            </a:r>
            <a:r>
              <a:rPr dirty="0"/>
              <a:t>TF‑IDF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207869"/>
            <a:ext cx="914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/>
              <a:t>BM25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5077" y="1212221"/>
            <a:ext cx="914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sz="1400" dirty="0"/>
              <a:t>Top‑k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4656" y="1235971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2095878" y="1251655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3225907" y="1273721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038" y="1794392"/>
            <a:ext cx="42865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Calibri"/>
              </a:defRPr>
            </a:pPr>
            <a:r>
              <a:rPr lang="ru-RU" dirty="0"/>
              <a:t>Идея: совпадение слов</a:t>
            </a:r>
          </a:p>
          <a:p>
            <a:pPr>
              <a:defRPr sz="1600" b="0">
                <a:latin typeface="Calibri"/>
              </a:defRPr>
            </a:pPr>
            <a:r>
              <a:rPr lang="ru-RU" dirty="0"/>
              <a:t>Реализация: скрипт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2757" y="1225513"/>
            <a:ext cx="625224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sz="1200" dirty="0" err="1"/>
              <a:t>Текст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5632986" y="1252834"/>
            <a:ext cx="1059349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ru-RU" dirty="0"/>
              <a:t>Эмбеддинг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6941168" y="1249454"/>
            <a:ext cx="1032456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lang="ru-RU" dirty="0"/>
              <a:t>Векторное сходство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8258386" y="1253519"/>
            <a:ext cx="7859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/>
              <a:t>Top‑k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27435" y="1391157"/>
            <a:ext cx="303754" cy="23169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6698056" y="1411878"/>
            <a:ext cx="252380" cy="21856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7982768" y="1402002"/>
            <a:ext cx="266474" cy="24354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3480" y="1801474"/>
            <a:ext cx="53035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Calibri"/>
              </a:defRPr>
            </a:pPr>
            <a:r>
              <a:rPr dirty="0" err="1"/>
              <a:t>Идея</a:t>
            </a:r>
            <a:r>
              <a:rPr dirty="0"/>
              <a:t>:</a:t>
            </a:r>
            <a:r>
              <a:rPr lang="en-US" dirty="0"/>
              <a:t> </a:t>
            </a:r>
            <a:r>
              <a:rPr lang="ru-RU" dirty="0"/>
              <a:t>Оценка семантической близости</a:t>
            </a:r>
            <a:br>
              <a:rPr lang="ru-RU" dirty="0"/>
            </a:br>
            <a:r>
              <a:rPr lang="ru-RU" dirty="0"/>
              <a:t>Реализация: локальная </a:t>
            </a:r>
            <a:r>
              <a:rPr lang="en-US" dirty="0"/>
              <a:t>GGUF </a:t>
            </a:r>
            <a:r>
              <a:rPr lang="ru-RU" dirty="0"/>
              <a:t>модель</a:t>
            </a:r>
          </a:p>
          <a:p>
            <a:endParaRPr dirty="0"/>
          </a:p>
        </p:txBody>
      </p:sp>
      <p:pic>
        <p:nvPicPr>
          <p:cNvPr id="28" name="Рисунок 27" descr="Изображение выглядит как текст, снимок экрана, диаграмма, График">
            <a:extLst>
              <a:ext uri="{FF2B5EF4-FFF2-40B4-BE49-F238E27FC236}">
                <a16:creationId xmlns:a16="http://schemas.microsoft.com/office/drawing/2014/main" id="{5CFA67C4-F258-E07A-1703-E07B1F3BD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" y="2346049"/>
            <a:ext cx="9144000" cy="45034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>
            <a:extLst>
              <a:ext uri="{FF2B5EF4-FFF2-40B4-BE49-F238E27FC236}">
                <a16:creationId xmlns:a16="http://schemas.microsoft.com/office/drawing/2014/main" id="{20FE4B44-24D4-DBA8-61B3-EB52797A0200}"/>
              </a:ext>
            </a:extLst>
          </p:cNvPr>
          <p:cNvSpPr/>
          <p:nvPr/>
        </p:nvSpPr>
        <p:spPr>
          <a:xfrm>
            <a:off x="0" y="-4534"/>
            <a:ext cx="5987844" cy="813715"/>
          </a:xfrm>
          <a:prstGeom prst="rect">
            <a:avLst/>
          </a:prstGeom>
          <a:solidFill>
            <a:srgbClr val="27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65675" y="117581"/>
            <a:ext cx="5120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lang="ru-RU" sz="2800" dirty="0">
                <a:solidFill>
                  <a:schemeClr val="bg1"/>
                </a:solidFill>
              </a:rPr>
              <a:t>Способы</a:t>
            </a:r>
            <a:r>
              <a:rPr sz="2800" dirty="0">
                <a:solidFill>
                  <a:schemeClr val="bg1"/>
                </a:solidFill>
              </a:rPr>
              <a:t> генерации </a:t>
            </a:r>
            <a:r>
              <a:rPr lang="ru-RU" sz="2800" dirty="0">
                <a:solidFill>
                  <a:schemeClr val="bg1"/>
                </a:solidFill>
              </a:rPr>
              <a:t>контракта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0" y="1587184"/>
            <a:ext cx="3841480" cy="288111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sz="1275" dirty="0"/>
              <a:t>1. ОПРЕДЕЛЕНИЯ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875295"/>
            <a:ext cx="3841480" cy="288111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sz="1275" dirty="0"/>
              <a:t>2. ПРЕДМЕТ</a:t>
            </a:r>
            <a:r>
              <a:rPr lang="ru-RU" sz="1275" dirty="0"/>
              <a:t> КОНТРАКТА</a:t>
            </a:r>
            <a:endParaRPr sz="1275" dirty="0"/>
          </a:p>
        </p:txBody>
      </p:sp>
      <p:sp>
        <p:nvSpPr>
          <p:cNvPr id="5" name="Rounded Rectangle 4"/>
          <p:cNvSpPr/>
          <p:nvPr/>
        </p:nvSpPr>
        <p:spPr>
          <a:xfrm>
            <a:off x="0" y="2163406"/>
            <a:ext cx="3841480" cy="288111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sz="1275" dirty="0"/>
              <a:t>3. ЦЕНА И НАЛОГИ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451517"/>
            <a:ext cx="3841480" cy="288111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sz="1275"/>
              <a:t>4. УСЛОВИЯ ОПЛАТЫ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2739628"/>
            <a:ext cx="3841480" cy="288111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sz="1275"/>
              <a:t>5. УСЛОВИЯ ПОСТАВКИ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3027739"/>
            <a:ext cx="3841480" cy="288111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sz="1275"/>
              <a:t>6. ПРИЕМКА И ИНСПЕКЦИЯ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3315850"/>
            <a:ext cx="3841480" cy="288111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sz="1275"/>
              <a:t>7. ГАРАНТИИ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3603961"/>
            <a:ext cx="3841480" cy="288111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sz="1275"/>
              <a:t>8. ОТВЕТСТВЕННОСТЬ И ШТРАФЫ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3892072"/>
            <a:ext cx="3841480" cy="288111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sz="1275" dirty="0"/>
              <a:t>9. ФОРС-МАЖОР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4180183"/>
            <a:ext cx="3841480" cy="288111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sz="1275"/>
              <a:t>10. ПРИМЕНИМОЕ ПРАВО И СПОРЫ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3179" y="1700086"/>
            <a:ext cx="4817143" cy="573263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lang="en-US" sz="1350" dirty="0"/>
              <a:t>Prompt → LLM →  </a:t>
            </a:r>
            <a:r>
              <a:rPr lang="ru-RU" sz="1350" dirty="0"/>
              <a:t>валидация → постобработка </a:t>
            </a:r>
          </a:p>
          <a:p>
            <a:pPr>
              <a:defRPr sz="1800" b="1"/>
            </a:pPr>
            <a:r>
              <a:rPr sz="1050" dirty="0"/>
              <a:t>Form-based</a:t>
            </a:r>
            <a:r>
              <a:rPr lang="ru-RU" sz="1050" dirty="0"/>
              <a:t> </a:t>
            </a:r>
            <a:endParaRPr sz="1050" dirty="0"/>
          </a:p>
        </p:txBody>
      </p:sp>
      <p:sp>
        <p:nvSpPr>
          <p:cNvPr id="16" name="Rounded Rectangle 15"/>
          <p:cNvSpPr/>
          <p:nvPr/>
        </p:nvSpPr>
        <p:spPr>
          <a:xfrm>
            <a:off x="4212557" y="2425749"/>
            <a:ext cx="4817143" cy="698451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lang="en-US" sz="1350" dirty="0"/>
              <a:t>BM25 retrieval → </a:t>
            </a:r>
            <a:r>
              <a:rPr lang="ru-RU" sz="1350" dirty="0"/>
              <a:t>очистка прецедентов → </a:t>
            </a:r>
            <a:r>
              <a:rPr lang="en-US" sz="1350" dirty="0"/>
              <a:t>prompt → LLM →  </a:t>
            </a:r>
            <a:r>
              <a:rPr lang="ru-RU" sz="1350" dirty="0"/>
              <a:t>валидация → постобработка</a:t>
            </a:r>
          </a:p>
          <a:p>
            <a:pPr>
              <a:defRPr sz="1400"/>
            </a:pPr>
            <a:r>
              <a:rPr lang="it-IT" sz="1050" dirty="0"/>
              <a:t>Form-based +</a:t>
            </a:r>
            <a:r>
              <a:rPr sz="1050" dirty="0"/>
              <a:t> </a:t>
            </a:r>
            <a:r>
              <a:rPr lang="en-US" sz="1050" dirty="0"/>
              <a:t>Lexical </a:t>
            </a:r>
            <a:r>
              <a:rPr lang="it-IT" sz="1050" dirty="0"/>
              <a:t>Retrieval</a:t>
            </a:r>
            <a:endParaRPr sz="1050" dirty="0"/>
          </a:p>
        </p:txBody>
      </p:sp>
      <p:sp>
        <p:nvSpPr>
          <p:cNvPr id="18" name="Rounded Rectangle 17"/>
          <p:cNvSpPr/>
          <p:nvPr/>
        </p:nvSpPr>
        <p:spPr>
          <a:xfrm>
            <a:off x="4212557" y="3407693"/>
            <a:ext cx="4797765" cy="682097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lang="it-IT" sz="1350" dirty="0"/>
              <a:t>Embeddings retrieval </a:t>
            </a:r>
            <a:r>
              <a:rPr lang="ru-RU" sz="1350" dirty="0"/>
              <a:t>→ </a:t>
            </a:r>
            <a:r>
              <a:rPr lang="it-IT" sz="1350" dirty="0"/>
              <a:t>prompt → LLM → </a:t>
            </a:r>
            <a:r>
              <a:rPr lang="ru-RU" sz="1350" dirty="0"/>
              <a:t>валидация</a:t>
            </a:r>
            <a:r>
              <a:rPr lang="it-IT" sz="1350" dirty="0"/>
              <a:t> → </a:t>
            </a:r>
            <a:r>
              <a:rPr lang="ru-RU" sz="1350" dirty="0"/>
              <a:t>постобработка.</a:t>
            </a:r>
            <a:endParaRPr lang="en-US" sz="1350" dirty="0"/>
          </a:p>
          <a:p>
            <a:pPr>
              <a:defRPr sz="1800" b="1"/>
            </a:pPr>
            <a:r>
              <a:rPr lang="it-IT" sz="1050" dirty="0"/>
              <a:t>Form-based + </a:t>
            </a:r>
            <a:r>
              <a:rPr sz="1050" dirty="0"/>
              <a:t>Semantic</a:t>
            </a:r>
            <a:r>
              <a:rPr lang="en-US" sz="1050" dirty="0"/>
              <a:t> </a:t>
            </a:r>
            <a:r>
              <a:rPr lang="it-IT" sz="1050" dirty="0"/>
              <a:t>Retrieval</a:t>
            </a:r>
            <a:endParaRPr sz="1050" dirty="0"/>
          </a:p>
        </p:txBody>
      </p:sp>
      <p:sp>
        <p:nvSpPr>
          <p:cNvPr id="19" name="Right Arrow 18"/>
          <p:cNvSpPr/>
          <p:nvPr/>
        </p:nvSpPr>
        <p:spPr>
          <a:xfrm>
            <a:off x="3850190" y="1909310"/>
            <a:ext cx="342989" cy="240093"/>
          </a:xfrm>
          <a:prstGeom prst="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 dirty="0">
              <a:highlight>
                <a:srgbClr val="FFFF00"/>
              </a:highlight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3850190" y="2626870"/>
            <a:ext cx="342989" cy="240093"/>
          </a:xfrm>
          <a:prstGeom prst="rightArrow">
            <a:avLst/>
          </a:prstGeom>
          <a:solidFill>
            <a:srgbClr val="FF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ight Arrow 20"/>
          <p:cNvSpPr/>
          <p:nvPr/>
        </p:nvSpPr>
        <p:spPr>
          <a:xfrm>
            <a:off x="3850190" y="3644966"/>
            <a:ext cx="362367" cy="240093"/>
          </a:xfrm>
          <a:prstGeom prst="rightArrow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E361110F-0A2C-7106-8A98-A5622301B11B}"/>
              </a:ext>
            </a:extLst>
          </p:cNvPr>
          <p:cNvSpPr/>
          <p:nvPr/>
        </p:nvSpPr>
        <p:spPr>
          <a:xfrm>
            <a:off x="0" y="6175902"/>
            <a:ext cx="9144000" cy="682097"/>
          </a:xfrm>
          <a:prstGeom prst="rect">
            <a:avLst/>
          </a:prstGeom>
          <a:solidFill>
            <a:srgbClr val="F58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Генерация на основе структурированных входных параметров </a:t>
            </a:r>
          </a:p>
          <a:p>
            <a:pPr algn="ctr"/>
            <a:r>
              <a:rPr lang="it-IT" dirty="0"/>
              <a:t>(Input Form</a:t>
            </a:r>
            <a:r>
              <a:rPr lang="ru-RU" dirty="0"/>
              <a:t> – цена, размер аванса, срок оплаты/поставки/гарантии</a:t>
            </a:r>
            <a:r>
              <a:rPr lang="it-IT" dirty="0"/>
              <a:t>)</a:t>
            </a:r>
            <a:endParaRPr dirty="0"/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FCE64DC7-3C1C-6553-F118-A1DE384907EF}"/>
              </a:ext>
            </a:extLst>
          </p:cNvPr>
          <p:cNvSpPr/>
          <p:nvPr/>
        </p:nvSpPr>
        <p:spPr>
          <a:xfrm>
            <a:off x="0" y="1017836"/>
            <a:ext cx="3841480" cy="574697"/>
          </a:xfrm>
          <a:prstGeom prst="roundRect">
            <a:avLst/>
          </a:prstGeom>
          <a:solidFill>
            <a:srgbClr val="FFFF00"/>
          </a:solidFill>
          <a:ln>
            <a:solidFill>
              <a:srgbClr val="27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rPr lang="ru-RU" sz="3200" dirty="0">
                <a:solidFill>
                  <a:schemeClr val="tx1"/>
                </a:solidFill>
              </a:rPr>
              <a:t>Контракт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98EE7B-9191-4CD3-CD43-C5FB162127D0}"/>
              </a:ext>
            </a:extLst>
          </p:cNvPr>
          <p:cNvSpPr txBox="1"/>
          <p:nvPr/>
        </p:nvSpPr>
        <p:spPr>
          <a:xfrm>
            <a:off x="60221" y="4515491"/>
            <a:ext cx="8756607" cy="196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3200" b="1"/>
            </a:pPr>
            <a:r>
              <a:rPr lang="ru-RU" sz="1600" dirty="0"/>
              <a:t>В процессе работы над проектом реализованы следующие способы генерации:</a:t>
            </a:r>
            <a:r>
              <a:rPr sz="1600" dirty="0"/>
              <a:t> </a:t>
            </a:r>
            <a:endParaRPr lang="ru-RU" sz="1600" dirty="0"/>
          </a:p>
          <a:p>
            <a:pPr>
              <a:lnSpc>
                <a:spcPts val="1800"/>
              </a:lnSpc>
              <a:defRPr sz="3200" b="1"/>
            </a:pPr>
            <a:r>
              <a:rPr lang="ru-RU" sz="1600" dirty="0"/>
              <a:t>- </a:t>
            </a:r>
            <a:r>
              <a:rPr lang="it-IT" sz="1600" dirty="0"/>
              <a:t>Prompt</a:t>
            </a:r>
            <a:r>
              <a:rPr lang="ru-RU" sz="1600" dirty="0"/>
              <a:t> </a:t>
            </a:r>
            <a:r>
              <a:rPr lang="it-IT" sz="1600" dirty="0"/>
              <a:t>-</a:t>
            </a:r>
            <a:r>
              <a:rPr lang="ru-RU" sz="1600" dirty="0"/>
              <a:t> </a:t>
            </a:r>
            <a:r>
              <a:rPr lang="it-IT" sz="1600" dirty="0"/>
              <a:t>based </a:t>
            </a:r>
            <a:r>
              <a:rPr lang="ru-RU" sz="1600" dirty="0"/>
              <a:t> генерация</a:t>
            </a:r>
          </a:p>
          <a:p>
            <a:pPr>
              <a:lnSpc>
                <a:spcPts val="1800"/>
              </a:lnSpc>
              <a:defRPr sz="3200" b="1"/>
            </a:pPr>
            <a:r>
              <a:rPr lang="ru-RU" sz="1600" dirty="0"/>
              <a:t>- </a:t>
            </a:r>
            <a:r>
              <a:rPr lang="it-IT" sz="1600" dirty="0"/>
              <a:t>Retrieval-based </a:t>
            </a:r>
            <a:r>
              <a:rPr lang="ru-RU" sz="1600" dirty="0"/>
              <a:t>генерация (</a:t>
            </a:r>
            <a:r>
              <a:rPr lang="it-IT" sz="1600" dirty="0"/>
              <a:t>BM25</a:t>
            </a:r>
            <a:r>
              <a:rPr lang="ru-RU" sz="1600" dirty="0"/>
              <a:t>)</a:t>
            </a:r>
          </a:p>
          <a:p>
            <a:pPr>
              <a:lnSpc>
                <a:spcPts val="1800"/>
              </a:lnSpc>
              <a:defRPr sz="3200" b="1"/>
            </a:pPr>
            <a:r>
              <a:rPr lang="ru-RU" sz="1600" dirty="0"/>
              <a:t>- </a:t>
            </a:r>
            <a:r>
              <a:rPr lang="it-IT" sz="1600" dirty="0"/>
              <a:t>Retrieval-based </a:t>
            </a:r>
            <a:r>
              <a:rPr lang="ru-RU" sz="1600" dirty="0"/>
              <a:t>генерация (</a:t>
            </a:r>
            <a:r>
              <a:rPr lang="it-IT" sz="1600" dirty="0"/>
              <a:t>Embeddings</a:t>
            </a:r>
            <a:r>
              <a:rPr lang="ru-RU" sz="1600" dirty="0"/>
              <a:t>) </a:t>
            </a:r>
            <a:r>
              <a:rPr lang="it-IT" sz="1600" dirty="0"/>
              <a:t>embeddings → npy → cosine → top_k</a:t>
            </a:r>
            <a:endParaRPr lang="ru-RU" sz="1600" dirty="0"/>
          </a:p>
          <a:p>
            <a:pPr>
              <a:lnSpc>
                <a:spcPts val="1800"/>
              </a:lnSpc>
              <a:defRPr sz="3200" b="1"/>
            </a:pPr>
            <a:endParaRPr lang="ru-RU" sz="1600" dirty="0"/>
          </a:p>
          <a:p>
            <a:pPr>
              <a:lnSpc>
                <a:spcPts val="1800"/>
              </a:lnSpc>
              <a:defRPr sz="3200" b="1"/>
            </a:pPr>
            <a:r>
              <a:rPr lang="ru-RU" sz="1600" dirty="0"/>
              <a:t>Retrieval Augmented Generation — генерация ответа пользователю с учетом дополнительно найденной релевантной информации.</a:t>
            </a:r>
          </a:p>
          <a:p>
            <a:pPr>
              <a:lnSpc>
                <a:spcPts val="1800"/>
              </a:lnSpc>
              <a:defRPr sz="3200" b="1"/>
            </a:pP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F0344FA8-EABF-65F7-60C8-C12E514764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" name="AutoShape 6">
            <a:extLst>
              <a:ext uri="{FF2B5EF4-FFF2-40B4-BE49-F238E27FC236}">
                <a16:creationId xmlns:a16="http://schemas.microsoft.com/office/drawing/2014/main" id="{BF7DBE89-914E-13E8-A4D0-E6184ADDFE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" name="AutoShape 8">
            <a:extLst>
              <a:ext uri="{FF2B5EF4-FFF2-40B4-BE49-F238E27FC236}">
                <a16:creationId xmlns:a16="http://schemas.microsoft.com/office/drawing/2014/main" id="{5D8DB6C7-0149-5514-E338-E0A8AD9066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399E2A2-8A18-D882-F9E6-E1884CCF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44" y="-41509"/>
            <a:ext cx="3156155" cy="15008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18A7FE-4889-F689-7C59-FAE826A36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4" y="441158"/>
            <a:ext cx="9144000" cy="6416842"/>
          </a:xfrm>
          <a:prstGeom prst="rect">
            <a:avLst/>
          </a:prstGeom>
        </p:spPr>
      </p:pic>
      <p:sp>
        <p:nvSpPr>
          <p:cNvPr id="7" name="Rounded Rectangle 13">
            <a:extLst>
              <a:ext uri="{FF2B5EF4-FFF2-40B4-BE49-F238E27FC236}">
                <a16:creationId xmlns:a16="http://schemas.microsoft.com/office/drawing/2014/main" id="{938C6176-EBE8-A162-67A8-1D5ABE060D9B}"/>
              </a:ext>
            </a:extLst>
          </p:cNvPr>
          <p:cNvSpPr/>
          <p:nvPr/>
        </p:nvSpPr>
        <p:spPr>
          <a:xfrm>
            <a:off x="2267702" y="1"/>
            <a:ext cx="4817143" cy="553672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ru-RU" sz="3200" b="1" dirty="0"/>
              <a:t>  Генерация</a:t>
            </a:r>
          </a:p>
          <a:p>
            <a:pPr>
              <a:defRPr sz="1800" b="1"/>
            </a:pP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3839149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6EAED3-E8D5-4AB3-B5EE-79E67091D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638"/>
            <a:ext cx="9144000" cy="6548437"/>
          </a:xfrm>
          <a:prstGeom prst="rect">
            <a:avLst/>
          </a:prstGeom>
        </p:spPr>
      </p:pic>
      <p:sp>
        <p:nvSpPr>
          <p:cNvPr id="5" name="Rounded Rectangle 13">
            <a:extLst>
              <a:ext uri="{FF2B5EF4-FFF2-40B4-BE49-F238E27FC236}">
                <a16:creationId xmlns:a16="http://schemas.microsoft.com/office/drawing/2014/main" id="{DE08DB71-3545-9774-20A7-86B4BA04B81C}"/>
              </a:ext>
            </a:extLst>
          </p:cNvPr>
          <p:cNvSpPr/>
          <p:nvPr/>
        </p:nvSpPr>
        <p:spPr>
          <a:xfrm>
            <a:off x="2125089" y="0"/>
            <a:ext cx="5735395" cy="553672"/>
          </a:xfrm>
          <a:prstGeom prst="round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ru-RU" sz="3200" b="1" dirty="0"/>
              <a:t> </a:t>
            </a:r>
            <a:r>
              <a:rPr lang="en-US" sz="3200" b="1" dirty="0"/>
              <a:t>BM25 retrieval </a:t>
            </a:r>
            <a:r>
              <a:rPr lang="ru-RU" sz="3200" b="1" dirty="0"/>
              <a:t>+ Генерация</a:t>
            </a:r>
          </a:p>
          <a:p>
            <a:pPr>
              <a:defRPr sz="1800" b="1"/>
            </a:pP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2713109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F8DD00-3024-CE5E-9A8A-45F521843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005"/>
            <a:ext cx="9144000" cy="6398805"/>
          </a:xfrm>
          <a:prstGeom prst="rect">
            <a:avLst/>
          </a:prstGeom>
        </p:spPr>
      </p:pic>
      <p:sp>
        <p:nvSpPr>
          <p:cNvPr id="5" name="Rounded Rectangle 13">
            <a:extLst>
              <a:ext uri="{FF2B5EF4-FFF2-40B4-BE49-F238E27FC236}">
                <a16:creationId xmlns:a16="http://schemas.microsoft.com/office/drawing/2014/main" id="{A48F4A51-A54E-C5AD-C8A4-DBD2ED91AFA0}"/>
              </a:ext>
            </a:extLst>
          </p:cNvPr>
          <p:cNvSpPr/>
          <p:nvPr/>
        </p:nvSpPr>
        <p:spPr>
          <a:xfrm>
            <a:off x="1839863" y="-16778"/>
            <a:ext cx="6255513" cy="453005"/>
          </a:xfrm>
          <a:prstGeom prst="roundRect">
            <a:avLst/>
          </a:prstGeom>
          <a:solidFill>
            <a:srgbClr val="2AAF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ru-RU" sz="3200" b="1" dirty="0"/>
              <a:t> </a:t>
            </a:r>
            <a:r>
              <a:rPr lang="en-US" sz="3200" b="1" dirty="0"/>
              <a:t>Embeddings retrieval </a:t>
            </a:r>
            <a:r>
              <a:rPr lang="ru-RU" sz="3200" b="1" dirty="0"/>
              <a:t>+ Генерация</a:t>
            </a:r>
          </a:p>
          <a:p>
            <a:pPr>
              <a:defRPr sz="1800" b="1"/>
            </a:pP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2045026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BDB4A3D-93F2-42FD-536A-DE54CE40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489" y="180128"/>
            <a:ext cx="9397489" cy="66778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33566"/>
            <a:ext cx="8229600" cy="81640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 генерации</a:t>
            </a:r>
            <a:endParaRPr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204792"/>
              </p:ext>
            </p:extLst>
          </p:nvPr>
        </p:nvGraphicFramePr>
        <p:xfrm>
          <a:off x="270164" y="583430"/>
          <a:ext cx="8395854" cy="4224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1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4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890"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Метрика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Интерпретация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990">
                <a:tc>
                  <a:txBody>
                    <a:bodyPr/>
                    <a:lstStyle/>
                    <a:p>
                      <a:r>
                        <a:rPr sz="1600" dirty="0"/>
                        <a:t>Полнота структуры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1.0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Все разделы 1–10 присутствуют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dirty="0"/>
                        <a:t>Корректность нумерации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Нет пропусков и</a:t>
                      </a:r>
                      <a:r>
                        <a:rPr lang="ru-RU" sz="1600" dirty="0"/>
                        <a:t>/или</a:t>
                      </a:r>
                      <a:r>
                        <a:rPr sz="1600" dirty="0"/>
                        <a:t> дублей пунктов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510">
                <a:tc>
                  <a:txBody>
                    <a:bodyPr/>
                    <a:lstStyle/>
                    <a:p>
                      <a:r>
                        <a:rPr sz="1600"/>
                        <a:t>Достаточный объём разделов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 err="1"/>
                        <a:t>Да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Разделы </a:t>
                      </a:r>
                      <a:r>
                        <a:rPr lang="ru-RU" sz="1600" dirty="0"/>
                        <a:t>соответствуют заданному объему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00" dirty="0"/>
                        <a:t>Коэффициент лексического разнообразия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0.466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уникальных слов (≥4 символов)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00"/>
                        <a:t>Количество дословных повторов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Дословн</a:t>
                      </a:r>
                      <a:r>
                        <a:rPr lang="ru-RU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ые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повтор</a:t>
                      </a:r>
                      <a:r>
                        <a:rPr lang="ru-RU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ы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ru-RU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отсутствуют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ru-RU" sz="1600" dirty="0" err="1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шингл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=5)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sz="1600" dirty="0"/>
                        <a:t>Соответствие параметрам формы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≈ </a:t>
                      </a:r>
                      <a:r>
                        <a:rPr sz="1600" dirty="0"/>
                        <a:t>0.9 (90%)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/11 </a:t>
                      </a:r>
                      <a:r>
                        <a:rPr lang="ru-RU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важных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параметров формы найдены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00" dirty="0"/>
                        <a:t>Количество фактических несоответствий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2 расхождения с Input Form</a:t>
                      </a:r>
                      <a:r>
                        <a:rPr lang="ru-RU" sz="1600" dirty="0"/>
                        <a:t> (несогласованность юрисдикций)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FF66BA-1C60-E9C1-94F9-42E9BB1E0D60}"/>
              </a:ext>
            </a:extLst>
          </p:cNvPr>
          <p:cNvSpPr txBox="1">
            <a:spLocks/>
          </p:cNvSpPr>
          <p:nvPr/>
        </p:nvSpPr>
        <p:spPr>
          <a:xfrm>
            <a:off x="-304801" y="4993855"/>
            <a:ext cx="9174481" cy="1369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/>
              <a:t>Найденные проблемы и несоответствия:</a:t>
            </a:r>
          </a:p>
          <a:p>
            <a:pPr algn="l"/>
            <a:r>
              <a:rPr lang="ru-RU" sz="1400" dirty="0"/>
              <a:t>                   1.  Отсутствует базис поставки: DAP (Incoterms 2020). </a:t>
            </a:r>
          </a:p>
          <a:p>
            <a:pPr algn="l"/>
            <a:r>
              <a:rPr lang="ru-RU" sz="1400" dirty="0"/>
              <a:t>                   2.  Смешанность юрисдикций (международное право /РФ/ США) (</a:t>
            </a:r>
            <a:r>
              <a:rPr lang="ru-RU" sz="1400" dirty="0" err="1"/>
              <a:t>п.п</a:t>
            </a:r>
            <a:r>
              <a:rPr lang="ru-RU" sz="1400" dirty="0"/>
              <a:t>. 8.8. и 10.3.)</a:t>
            </a:r>
          </a:p>
          <a:p>
            <a:pPr algn="l"/>
            <a:r>
              <a:rPr lang="ru-RU" sz="1400" dirty="0"/>
              <a:t>                   3.  Неюридические термины («самоуправство» (п. 10.8.))</a:t>
            </a:r>
          </a:p>
          <a:p>
            <a:pPr algn="l"/>
            <a:r>
              <a:rPr lang="ru-RU" sz="1400" dirty="0"/>
              <a:t>                   4.  Смысловые повторы (3.4., 3.15., 3.18), (4.17.,4.18)</a:t>
            </a:r>
          </a:p>
          <a:p>
            <a:pPr algn="l"/>
            <a:r>
              <a:rPr lang="ru-RU" sz="1400" dirty="0"/>
              <a:t>                   5.  Ошибочность присутствия (п. 5.15., 5.16. в раздел № 7, п.5.25 в раздел № 10) </a:t>
            </a:r>
          </a:p>
          <a:p>
            <a:pPr algn="l"/>
            <a:r>
              <a:rPr lang="ru-RU" sz="1400" dirty="0"/>
              <a:t>                   6. Отсутствие конкретики (п. 10.5)</a:t>
            </a:r>
          </a:p>
          <a:p>
            <a:endParaRPr lang="ru-RU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Рисунок 6" descr="Изображение выглядит как текст, снимок экрана, Веб-сайт, Реклама в Интернет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E3C452D-408A-B9DA-49B7-5BAA7F435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B01DFA8-6D9C-B948-7DB3-F2A7F4197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57250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406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2732</TotalTime>
  <Words>768</Words>
  <Application>Microsoft Office PowerPoint</Application>
  <PresentationFormat>Экран (4:3)</PresentationFormat>
  <Paragraphs>155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Сегментация</vt:lpstr>
      <vt:lpstr>BM25 Retrieval Generation</vt:lpstr>
      <vt:lpstr>Form‑based Generation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Метрики качества генерации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7Я</dc:creator>
  <cp:keywords/>
  <dc:description>generated using python-pptx</dc:description>
  <cp:lastModifiedBy>7Я</cp:lastModifiedBy>
  <cp:revision>24</cp:revision>
  <dcterms:created xsi:type="dcterms:W3CDTF">2013-01-27T09:14:16Z</dcterms:created>
  <dcterms:modified xsi:type="dcterms:W3CDTF">2026-02-11T21:06:32Z</dcterms:modified>
  <cp:category/>
</cp:coreProperties>
</file>